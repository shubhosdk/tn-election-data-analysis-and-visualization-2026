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A3B1"/>
                </a:solidFill>
              </a:rPr>
              <a:t>ATLIQ MEDIA  ·  ELECTION SPECIAL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THE </a:t>
            </a:r>
            <a:pPr indent="0" marL="0">
              <a:buNone/>
            </a:pPr>
            <a:r>
              <a:rPr lang="en-US" sz="4800" b="1" dirty="0">
                <a:solidFill>
                  <a:srgbClr val="E84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" y="16916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ASSEMBLY ELECTION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2651760"/>
            <a:ext cx="2697480" cy="16459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651760"/>
            <a:ext cx="54864" cy="1645920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2697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4C3D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New Force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3429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TVK wins 108 seats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in its debut election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651760"/>
            <a:ext cx="2697480" cy="16459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651760"/>
            <a:ext cx="54864" cy="1645920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2697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4C3D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Great Flip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3429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163 of 234 seats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changed hands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2651760"/>
            <a:ext cx="2697480" cy="16459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2651760"/>
            <a:ext cx="54864" cy="1645920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2697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4C3D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0488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Closer Fight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90488" y="3429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Avg winning margin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fell by 27%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1"/>
                </a:solidFill>
              </a:rPr>
              <a:t>Source: Election Commission of India  |  Data: ECI Results Portal 2026, TCPD 2021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4C3D"/>
                </a:solidFill>
              </a:rPr>
              <a:t>STORY 1  ·  THE NEW FORCE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Party Won the Most Seats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11680" cy="155448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011680" cy="64008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4C3D"/>
                </a:solidFill>
              </a:rPr>
              <a:t>108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TVK seats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debut election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87168" y="1234440"/>
            <a:ext cx="2011680" cy="155448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1234440"/>
            <a:ext cx="201168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487168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</a:rPr>
              <a:t>59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487168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DMK seats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87168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down from 133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54296" y="1234440"/>
            <a:ext cx="2011680" cy="155448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54296" y="1234440"/>
            <a:ext cx="201168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654296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</a:rPr>
              <a:t>47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654296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AIADMK seats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54296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down from 66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21424" y="1234440"/>
            <a:ext cx="2011680" cy="155448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21424" y="1234440"/>
            <a:ext cx="2011680" cy="64008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21" name="Text 19"/>
          <p:cNvSpPr/>
          <p:nvPr/>
        </p:nvSpPr>
        <p:spPr>
          <a:xfrm>
            <a:off x="6821424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4C3D"/>
                </a:solidFill>
              </a:rPr>
              <a:t>34.9%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821424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TVK vote share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21424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largest any party</a:t>
            </a:r>
            <a:endParaRPr lang="en-US" sz="9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880360"/>
            <a:ext cx="8595360" cy="20116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365760" y="49377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3B1"/>
                </a:solidFill>
              </a:rPr>
              <a:t>Source: ECI Results Portal 2026, TCPD 2021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4C3D"/>
                </a:solidFill>
              </a:rPr>
              <a:t>STORY 1 (CONTINUED)  ·  SEAT TALLY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234 Seats Were Distributed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22960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4480560"/>
            <a:ext cx="54864" cy="502920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DF2"/>
                </a:solidFill>
              </a:rPr>
              <a:t>In 2021, DMK won 133 seats (57%) — in 2026, no single party crossed 50%. TVK won 108 seats (46%) as a first-time contestant.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4C3D"/>
                </a:solidFill>
              </a:rPr>
              <a:t>STORY 2  ·  THE GREAT FLIP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of 234 Seats Changed Hands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377440" cy="16459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2377440" cy="64008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4C3D"/>
                </a:solidFill>
              </a:rPr>
              <a:t>163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seats flipped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out of 234  (70%)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143000"/>
            <a:ext cx="6035040" cy="30175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4480560"/>
            <a:ext cx="54864" cy="502920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DF2"/>
                </a:solidFill>
              </a:rPr>
              <a:t>The biggest single flow: 65 constituencies that DMK held in 2021 flipped to TVK in 2026. AIADMK also lost 26 seats to TVK.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4C3D"/>
                </a:solidFill>
              </a:rPr>
              <a:t>STORY 2 (CONTINUED)  ·  GEOGRAPHY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TVK's Reach Was Statewide, Not Regional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859536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617720"/>
            <a:ext cx="8412480" cy="182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4617720"/>
            <a:ext cx="8412480" cy="182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4617720"/>
            <a:ext cx="8412480" cy="182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4389120"/>
            <a:ext cx="54864" cy="594360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44256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DF2"/>
                </a:solidFill>
              </a:rPr>
              <a:t>TVK won seats in all 6 regions in its debut, with no single region dominating its tally — suggesting statewide reach rather than a regional base.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4C3D"/>
                </a:solidFill>
              </a:rPr>
              <a:t>STORY 3  ·  THE CLOSER FIGHT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Margins Shrank Across Tamil Nadu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743200" cy="173736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743200" cy="64008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3B1"/>
                </a:solidFill>
              </a:rPr>
              <a:t>Avg winning margin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2021: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22,871 votes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2026: </a:t>
            </a:r>
            <a:pPr algn="ctr" indent="0" marL="0">
              <a:buNone/>
            </a:pPr>
            <a:r>
              <a:rPr lang="en-US" sz="1400" b="1" dirty="0">
                <a:solidFill>
                  <a:srgbClr val="E84C3D"/>
                </a:solidFill>
              </a:rPr>
              <a:t>16,784 votes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4C3D"/>
                </a:solidFill>
              </a:rPr>
              <a:t>−27% from 2021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1234440"/>
            <a:ext cx="2743200" cy="173736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234440"/>
            <a:ext cx="274320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227832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3B1"/>
                </a:solidFill>
              </a:rPr>
              <a:t>Won with &gt;50% of votes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27832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2021: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70 seats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27832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2026: </a:t>
            </a:r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13 seats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27832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</a:rPr>
              <a:t>−81% drop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35624" y="1234440"/>
            <a:ext cx="2743200" cy="173736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5624" y="1234440"/>
            <a:ext cx="27432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135624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3B1"/>
                </a:solidFill>
              </a:rPr>
              <a:t>Won with &lt;35% of votes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35624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2021: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 seats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35624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2026: 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64 seats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35624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A623"/>
                </a:solidFill>
              </a:rPr>
              <a:t>+3,100% rise</a:t>
            </a:r>
            <a:endParaRPr lang="en-US" sz="10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063240"/>
            <a:ext cx="8595360" cy="17830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365760" y="49377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3B1"/>
                </a:solidFill>
              </a:rPr>
              <a:t>Source: ECI Results Portal 2026, TCPD 2021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C3D"/>
                </a:solidFill>
              </a:rPr>
              <a:t>HOW THE THREE STORIES CONNECT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Narrative Arc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51760" cy="237744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651760" cy="73152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63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4C3D"/>
                </a:solidFill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938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TVK Entered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395728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A new party won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34.9% vote share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and 108 seats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371600"/>
            <a:ext cx="2651760" cy="237744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371600"/>
            <a:ext cx="2651760" cy="73152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1463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4C3D"/>
                </a:solidFill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154680" y="1938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Three-way Race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54680" y="2395728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DMK + AIADMK + TVK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each took 20–35%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of votes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371600"/>
            <a:ext cx="2651760" cy="237744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371600"/>
            <a:ext cx="2651760" cy="73152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1463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4C3D"/>
                </a:solidFill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989320" y="1938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Margins Collapsed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89320" y="2395728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Avg margin dropped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27%; 64 seats decided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by &lt;35% of votes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71800" y="2560320"/>
            <a:ext cx="182880" cy="0"/>
          </a:xfrm>
          <a:prstGeom prst="line">
            <a:avLst/>
          </a:prstGeom>
          <a:noFill/>
          <a:ln w="25400">
            <a:solidFill>
              <a:srgbClr val="E84C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2560320"/>
            <a:ext cx="91440" cy="0"/>
          </a:xfrm>
          <a:prstGeom prst="line">
            <a:avLst/>
          </a:prstGeom>
          <a:noFill/>
          <a:ln w="25400">
            <a:solidFill>
              <a:srgbClr val="E84C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9319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DF2"/>
                </a:solidFill>
              </a:rPr>
              <a:t>"A new entrant fractured a two-party system, turned 70% of seats over, and made victory margins the slimmest Tamil Nadu has seen in decades."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4C3D"/>
                </a:solidFill>
              </a:rPr>
              <a:t>EDITORIAL INTEGRITY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Can and Cannot Tell 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100584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533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What the data shows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Seat counts, vote shares, margins, and constituency-level flips are directly from ECI data. All numbers are verifiable against the official results portal.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8412480" cy="100584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423160"/>
            <a:ext cx="54864" cy="1005840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963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C3D"/>
                </a:solidFill>
              </a:rPr>
              <a:t>What the data cannot answer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Why voters chose as they did. Demographic breakdown of voters. Whether any pattern will continue in future elections. These questions require data the ECI does not publish.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8412480" cy="100584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566160"/>
            <a:ext cx="54864" cy="1005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393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Known limitations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2026 turnout column is blank in the source file — turnout figures used here come from ECI portal cross-checks. Pre-final Form 20 data may have minor vote-count adjustments after audit.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4C3D"/>
                </a:solidFill>
              </a:rPr>
              <a:t>EDITORIAL RECOMMENDATION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AtliQ Media's One-Hour Show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206240" cy="132588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54864" cy="1325880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3990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C3D"/>
                </a:solidFill>
              </a:rPr>
              <a:t>SEGMENT 1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84C3D"/>
                </a:solidFill>
              </a:rPr>
              <a:t>0–15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00200" y="13990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New Force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19202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Open with the seat tally. Use the pie chart split. Three parties, 234 seats. Let the numbers anchor the conversation.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4206240" cy="132588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25880"/>
            <a:ext cx="54864" cy="1325880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12" name="Text 10"/>
          <p:cNvSpPr/>
          <p:nvPr/>
        </p:nvSpPr>
        <p:spPr>
          <a:xfrm>
            <a:off x="4974336" y="13990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C3D"/>
                </a:solidFill>
              </a:rPr>
              <a:t>SEGMENT 2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84C3D"/>
                </a:solidFill>
              </a:rPr>
              <a:t>15–35 min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80760" y="13990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Great Flip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74336" y="19202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Walk through the flip bar chart. 163/234. DMK's 65-seat reversal. The regional breakdown shows TVK won everywhere.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4206240" cy="132588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88920"/>
            <a:ext cx="54864" cy="1325880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" y="28620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C3D"/>
                </a:solidFill>
              </a:rPr>
              <a:t>SEGMENT 3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84C3D"/>
                </a:solidFill>
              </a:rPr>
              <a:t>35–50 min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00200" y="2862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Closer Fight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" y="33832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The margin collapse is the sleeper story. Show the histogram. 64 constituencies decided by under 35% of votes — nearly triple any prior election.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788920"/>
            <a:ext cx="4206240" cy="132588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788920"/>
            <a:ext cx="54864" cy="1325880"/>
          </a:xfrm>
          <a:prstGeom prst="rect">
            <a:avLst/>
          </a:prstGeom>
          <a:solidFill>
            <a:srgbClr val="E84C3D"/>
          </a:solidFill>
          <a:ln/>
        </p:spPr>
      </p:sp>
      <p:sp>
        <p:nvSpPr>
          <p:cNvPr id="22" name="Text 20"/>
          <p:cNvSpPr/>
          <p:nvPr/>
        </p:nvSpPr>
        <p:spPr>
          <a:xfrm>
            <a:off x="4974336" y="28620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C3D"/>
                </a:solidFill>
              </a:rPr>
              <a:t>SEGMENT 4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84C3D"/>
                </a:solidFill>
              </a:rPr>
              <a:t>50–60 min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80760" y="2862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We Know / Don't Know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74336" y="33832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Close with the limitations slide. Neutral sign-off: the data shows what happened; it does not explain why.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FA3B1"/>
                </a:solidFill>
              </a:rPr>
              <a:t>All analysis is based solely on publicly available Election Commission of India data. This presentation does not endorse, criticise, or take any political position.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Decoding the 2026 Tamil Nadu Assembly Election</dc:title>
  <dc:subject>PptxGenJS Presentation</dc:subject>
  <dc:creator>PptxGenJS</dc:creator>
  <cp:lastModifiedBy>PptxGenJS</cp:lastModifiedBy>
  <cp:revision>1</cp:revision>
  <dcterms:created xsi:type="dcterms:W3CDTF">2026-05-29T03:02:12Z</dcterms:created>
  <dcterms:modified xsi:type="dcterms:W3CDTF">2026-05-29T03:02:12Z</dcterms:modified>
</cp:coreProperties>
</file>